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sldIdLst>
    <p:sldId id="265" r:id="rId3"/>
    <p:sldId id="257" r:id="rId4"/>
    <p:sldId id="261" r:id="rId5"/>
    <p:sldId id="264" r:id="rId6"/>
    <p:sldId id="262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6304"/>
            <a:ext cx="11753088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8979" y="381001"/>
            <a:ext cx="109728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44800" y="2819400"/>
            <a:ext cx="8746979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3504" y="3267456"/>
            <a:ext cx="98755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498230"/>
            <a:ext cx="103632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87713"/>
            <a:ext cx="103632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2325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400800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948"/>
            <a:ext cx="109728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21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43403" y="105765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515" y="304800"/>
            <a:ext cx="524256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17515" y="1107560"/>
            <a:ext cx="524256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4800" y="2209800"/>
            <a:ext cx="11555275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24" y="4724400"/>
            <a:ext cx="73152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3924" y="5388937"/>
            <a:ext cx="73152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06400" y="249864"/>
            <a:ext cx="113792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57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19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79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07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66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74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884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164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21582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24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1225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75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86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0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7085"/>
            <a:ext cx="1174779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27200" y="6400800"/>
            <a:ext cx="5616352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416800" y="6400800"/>
            <a:ext cx="400304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18603" y="6514568"/>
            <a:ext cx="619051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46237"/>
            <a:ext cx="109728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4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E084A7-1619-859D-2D12-6F912DEFAA59}"/>
              </a:ext>
            </a:extLst>
          </p:cNvPr>
          <p:cNvSpPr txBox="1"/>
          <p:nvPr/>
        </p:nvSpPr>
        <p:spPr>
          <a:xfrm>
            <a:off x="432777" y="577129"/>
            <a:ext cx="6094562" cy="97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7545"/>
              </a:lnSpc>
              <a:buNone/>
            </a:pPr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HOMEVERSE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4983627-6AC9-7CE7-3870-B5845CD5FFC9}"/>
              </a:ext>
            </a:extLst>
          </p:cNvPr>
          <p:cNvSpPr/>
          <p:nvPr/>
        </p:nvSpPr>
        <p:spPr>
          <a:xfrm>
            <a:off x="545333" y="2907897"/>
            <a:ext cx="7477601" cy="20630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65FE62B-63CC-C9BB-841C-3542CF2C768F}"/>
              </a:ext>
            </a:extLst>
          </p:cNvPr>
          <p:cNvSpPr/>
          <p:nvPr/>
        </p:nvSpPr>
        <p:spPr>
          <a:xfrm>
            <a:off x="1928822" y="5805636"/>
            <a:ext cx="1760577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r>
              <a:rPr lang="en-US" sz="2187" dirty="0"/>
              <a:t>By SUMIT SINGH RAWAT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174156-A3EC-FBC1-AA08-4EE3FA0C26FC}"/>
              </a:ext>
            </a:extLst>
          </p:cNvPr>
          <p:cNvSpPr txBox="1"/>
          <p:nvPr/>
        </p:nvSpPr>
        <p:spPr>
          <a:xfrm>
            <a:off x="2020335" y="1521134"/>
            <a:ext cx="368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REALESTATE AND PROPERTIES</a:t>
            </a:r>
          </a:p>
        </p:txBody>
      </p:sp>
      <p:pic>
        <p:nvPicPr>
          <p:cNvPr id="11" name="Picture 10" descr="A collage of different buildings&#10;&#10;Description automatically generated">
            <a:extLst>
              <a:ext uri="{FF2B5EF4-FFF2-40B4-BE49-F238E27FC236}">
                <a16:creationId xmlns:a16="http://schemas.microsoft.com/office/drawing/2014/main" id="{2D8F03D7-AB24-DB8C-9E6B-C73A21200C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8" t="-314" r="55644" b="314"/>
          <a:stretch/>
        </p:blipFill>
        <p:spPr>
          <a:xfrm>
            <a:off x="8726751" y="-60385"/>
            <a:ext cx="3465250" cy="6918385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372E6927-1A64-53C5-29FB-A3FC7E9DE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279" y="5415947"/>
            <a:ext cx="2307585" cy="2307585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ABACFBC1-424E-38F0-86B1-65C0713C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05" y="2937934"/>
            <a:ext cx="71580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estate involves the ownership, development, and management of land and buildings. It is a fundamental component of the economy, driving urban development and providing essential spaces for residential, commercial, and industrial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64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6780" y="2507575"/>
            <a:ext cx="10001951" cy="3661155"/>
            <a:chOff x="2046780" y="2507571"/>
            <a:chExt cx="10001950" cy="366115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8" y="1042607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8" y="5940564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5B13CC5-2AB7-C873-0557-2EC4C29EFEEF}"/>
              </a:ext>
            </a:extLst>
          </p:cNvPr>
          <p:cNvSpPr txBox="1"/>
          <p:nvPr/>
        </p:nvSpPr>
        <p:spPr>
          <a:xfrm>
            <a:off x="987780" y="1580446"/>
            <a:ext cx="8311443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Introduction to Real Estate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What is Real Estate?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Real estate encompasses land along with any permanent improvements attached to the land, whether natural or man-made, including buildings, houses, and other structures. It is a vital sector of the economy, playing a significant role in shaping the urban landscape and influencing various socio-economic factors.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047A9496-610F-7844-819A-BA0EAE404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045" y="5430542"/>
            <a:ext cx="2307585" cy="230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9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6780" y="2507575"/>
            <a:ext cx="10001951" cy="3661155"/>
            <a:chOff x="2046780" y="2507571"/>
            <a:chExt cx="10001950" cy="366115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8" y="1042607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8" y="5940564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402AFB21-DA06-E486-18AF-FAA2E3D01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279" y="5415947"/>
            <a:ext cx="2307585" cy="2307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ADE238-6ADA-4D5F-8F2B-49029DED5115}"/>
              </a:ext>
            </a:extLst>
          </p:cNvPr>
          <p:cNvSpPr txBox="1"/>
          <p:nvPr/>
        </p:nvSpPr>
        <p:spPr>
          <a:xfrm>
            <a:off x="971805" y="545837"/>
            <a:ext cx="8596096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Categories of Real Estate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Real estate can be broadly categorized into four main types: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Residential Real Estate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Includes</a:t>
            </a:r>
            <a:r>
              <a:rPr lang="en-US" dirty="0">
                <a:solidFill>
                  <a:schemeClr val="bg1"/>
                </a:solidFill>
              </a:rPr>
              <a:t>: Single-family homes, apartments, townhouses, and condominiums.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: Primarily for personal living and accommodation.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Commercial Real Estate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Includes</a:t>
            </a:r>
            <a:r>
              <a:rPr lang="en-US" dirty="0">
                <a:solidFill>
                  <a:schemeClr val="bg1"/>
                </a:solidFill>
              </a:rPr>
              <a:t>: Office buildings, shopping malls, hotels, and retail stores.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: Used for business activities and generating income.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Industrial Real Estate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Includes</a:t>
            </a:r>
            <a:r>
              <a:rPr lang="en-US" dirty="0">
                <a:solidFill>
                  <a:schemeClr val="bg1"/>
                </a:solidFill>
              </a:rPr>
              <a:t>: Factories, warehouses, and distribution centers.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: For manufacturing, production, storage, and distribution of goods.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Land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Includes</a:t>
            </a:r>
            <a:r>
              <a:rPr lang="en-US" dirty="0">
                <a:solidFill>
                  <a:schemeClr val="bg1"/>
                </a:solidFill>
              </a:rPr>
              <a:t>: Undeveloped land, agricultural land, and vacant lots.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: Can be used for farming, development, or left natural.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50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6780" y="2507575"/>
            <a:ext cx="10001951" cy="3661155"/>
            <a:chOff x="2046780" y="2507571"/>
            <a:chExt cx="10001950" cy="366115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8" y="1042607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8" y="5940564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9AA8C7AF-794F-DF5E-AF24-CF6CBEA2A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279" y="5415947"/>
            <a:ext cx="2307585" cy="2307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DA00E2-499D-7651-3E0D-7CF93D8AC380}"/>
              </a:ext>
            </a:extLst>
          </p:cNvPr>
          <p:cNvSpPr txBox="1"/>
          <p:nvPr/>
        </p:nvSpPr>
        <p:spPr>
          <a:xfrm>
            <a:off x="1097318" y="1398233"/>
            <a:ext cx="811959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Importance of Real Estate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Economic Growth</a:t>
            </a:r>
            <a:r>
              <a:rPr lang="en-US" dirty="0">
                <a:solidFill>
                  <a:schemeClr val="bg1"/>
                </a:solidFill>
              </a:rPr>
              <a:t>: Real estate development contributes significantly to the GDP, creates jobs, and promotes investment.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Wealth Accumulation</a:t>
            </a:r>
            <a:r>
              <a:rPr lang="en-US" dirty="0">
                <a:solidFill>
                  <a:schemeClr val="bg1"/>
                </a:solidFill>
              </a:rPr>
              <a:t>: Property ownership is a common means of building and preserving wealth over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Infrastructure Development</a:t>
            </a:r>
            <a:r>
              <a:rPr lang="en-US" dirty="0">
                <a:solidFill>
                  <a:schemeClr val="bg1"/>
                </a:solidFill>
              </a:rPr>
              <a:t>: Real estate projects drive infrastructure improvements, enhancing community facilities and public services.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Urbanization</a:t>
            </a:r>
            <a:r>
              <a:rPr lang="en-US" dirty="0">
                <a:solidFill>
                  <a:schemeClr val="bg1"/>
                </a:solidFill>
              </a:rPr>
              <a:t>: Facilitates urban growth, shaping cities and metropolitan areas.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89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6780" y="2507575"/>
            <a:ext cx="10001951" cy="3661155"/>
            <a:chOff x="2046780" y="2507571"/>
            <a:chExt cx="10001950" cy="366115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8" y="1042607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8" y="5940564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39FC4E-D697-7B59-09F5-7EE5D8CA3B9E}"/>
              </a:ext>
            </a:extLst>
          </p:cNvPr>
          <p:cNvSpPr txBox="1"/>
          <p:nvPr/>
        </p:nvSpPr>
        <p:spPr>
          <a:xfrm>
            <a:off x="526359" y="591505"/>
            <a:ext cx="975077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/>
              </a:rPr>
              <a:t>Project conclusion: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075779-5B76-93B5-50BA-DC482127C2B1}"/>
              </a:ext>
            </a:extLst>
          </p:cNvPr>
          <p:cNvSpPr txBox="1"/>
          <p:nvPr/>
        </p:nvSpPr>
        <p:spPr>
          <a:xfrm>
            <a:off x="260958" y="1303357"/>
            <a:ext cx="954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ui-sans-serif"/>
              </a:rPr>
              <a:t>In this presentation, we delved into the captivating world of art and craft, exploring its diverse forms, techniques, and cultural significance. Here’s a conclusion of the key points covered: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DFEB4-AC3E-0D4E-B39A-4140893BBACC}"/>
              </a:ext>
            </a:extLst>
          </p:cNvPr>
          <p:cNvSpPr txBox="1"/>
          <p:nvPr/>
        </p:nvSpPr>
        <p:spPr>
          <a:xfrm>
            <a:off x="524225" y="2049301"/>
            <a:ext cx="92672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Vital Role of Real Estate</a:t>
            </a:r>
          </a:p>
          <a:p>
            <a:r>
              <a:rPr lang="en-US" dirty="0">
                <a:solidFill>
                  <a:schemeClr val="bg1"/>
                </a:solidFill>
              </a:rPr>
              <a:t>Real estate is a cornerstone of the economy and a significant driver of societal development. It impacts various aspects of daily life, from providing housing and workspaces to influencing urban planning and economic policies.</a:t>
            </a:r>
          </a:p>
          <a:p>
            <a:r>
              <a:rPr lang="en-US" b="1" dirty="0">
                <a:solidFill>
                  <a:schemeClr val="bg1"/>
                </a:solidFill>
              </a:rPr>
              <a:t>Summary of 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Diverse Categories</a:t>
            </a:r>
            <a:r>
              <a:rPr lang="en-US" dirty="0">
                <a:solidFill>
                  <a:schemeClr val="bg1"/>
                </a:solidFill>
              </a:rPr>
              <a:t>: Real estate encompasses residential, commercial, industrial, and land properties, each serving unique purposes and markets.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Economic Significance</a:t>
            </a:r>
            <a:r>
              <a:rPr lang="en-US" dirty="0">
                <a:solidFill>
                  <a:schemeClr val="bg1"/>
                </a:solidFill>
              </a:rPr>
              <a:t>: It contributes to economic growth, infrastructure development, and wealth accumulation.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Market Dynamics</a:t>
            </a:r>
            <a:r>
              <a:rPr lang="en-US" dirty="0">
                <a:solidFill>
                  <a:schemeClr val="bg1"/>
                </a:solidFill>
              </a:rPr>
              <a:t>: Influenced by supply and demand, location, economic indicators, and government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Challenges and Innovations</a:t>
            </a:r>
            <a:r>
              <a:rPr lang="en-US" dirty="0">
                <a:solidFill>
                  <a:schemeClr val="bg1"/>
                </a:solidFill>
              </a:rPr>
              <a:t>: The industry faces challenges such as market volatility and regulatory hurdles, but also embraces innovations like sustainable development and technological advancements.</a:t>
            </a:r>
          </a:p>
          <a:p>
            <a:endParaRPr lang="en-US" b="0" i="0" dirty="0">
              <a:solidFill>
                <a:schemeClr val="bg1"/>
              </a:solidFill>
              <a:effectLst/>
              <a:latin typeface="ui-sans-serif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FCEDE7-A892-64FC-00EB-770594C10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279" y="5415947"/>
            <a:ext cx="2307585" cy="230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9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2A1926-0874-DBCF-A04B-D9DE18162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4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6780" y="2507575"/>
            <a:ext cx="10001951" cy="3661155"/>
            <a:chOff x="2046780" y="2507571"/>
            <a:chExt cx="10001950" cy="366115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8" y="1042607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8" y="5940564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39FC4E-D697-7B59-09F5-7EE5D8CA3B9E}"/>
              </a:ext>
            </a:extLst>
          </p:cNvPr>
          <p:cNvSpPr txBox="1"/>
          <p:nvPr/>
        </p:nvSpPr>
        <p:spPr>
          <a:xfrm>
            <a:off x="4568950" y="2883812"/>
            <a:ext cx="5080003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lgerian"/>
              </a:rPr>
              <a:t>Thank you</a:t>
            </a:r>
          </a:p>
          <a:p>
            <a:endParaRPr lang="en-US" sz="3200" dirty="0">
              <a:solidFill>
                <a:schemeClr val="bg1"/>
              </a:solidFill>
              <a:latin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8910809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</TotalTime>
  <Words>474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ADLaM Display</vt:lpstr>
      <vt:lpstr>Algerian</vt:lpstr>
      <vt:lpstr>Arial</vt:lpstr>
      <vt:lpstr>Century Schoolbook</vt:lpstr>
      <vt:lpstr>Open Sans</vt:lpstr>
      <vt:lpstr>Rockwell</vt:lpstr>
      <vt:lpstr>Trebuchet MS</vt:lpstr>
      <vt:lpstr>ui-sans-serif</vt:lpstr>
      <vt:lpstr>Wingdings 2</vt:lpstr>
      <vt:lpstr>Wingdings 3</vt:lpstr>
      <vt:lpstr>Foundry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Seeboo Pooree</dc:creator>
  <cp:lastModifiedBy>Sumit Singh</cp:lastModifiedBy>
  <cp:revision>548</cp:revision>
  <dcterms:created xsi:type="dcterms:W3CDTF">2024-04-26T09:27:23Z</dcterms:created>
  <dcterms:modified xsi:type="dcterms:W3CDTF">2024-06-07T19:11:02Z</dcterms:modified>
</cp:coreProperties>
</file>